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64" r:id="rId4"/>
    <p:sldId id="258" r:id="rId5"/>
    <p:sldId id="265" r:id="rId6"/>
    <p:sldId id="259" r:id="rId7"/>
    <p:sldId id="267" r:id="rId8"/>
    <p:sldId id="269" r:id="rId9"/>
    <p:sldId id="270" r:id="rId10"/>
    <p:sldId id="271" r:id="rId11"/>
    <p:sldId id="266" r:id="rId12"/>
    <p:sldId id="260" r:id="rId13"/>
    <p:sldId id="262" r:id="rId14"/>
    <p:sldId id="272" r:id="rId15"/>
    <p:sldId id="268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59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msika Peddina" userId="0a25584e6d77972b" providerId="LiveId" clId="{9A3C3C37-A6E1-428F-8F58-D52E9F9B9DB6}"/>
    <pc:docChg chg="addSld modSld sldOrd">
      <pc:chgData name="Hamsika Peddina" userId="0a25584e6d77972b" providerId="LiveId" clId="{9A3C3C37-A6E1-428F-8F58-D52E9F9B9DB6}" dt="2026-10-14T06:25:07.076" v="36" actId="1076"/>
      <pc:docMkLst>
        <pc:docMk/>
      </pc:docMkLst>
      <pc:sldChg chg="modSp mod">
        <pc:chgData name="Hamsika Peddina" userId="0a25584e6d77972b" providerId="LiveId" clId="{9A3C3C37-A6E1-428F-8F58-D52E9F9B9DB6}" dt="2026-10-14T06:25:07.076" v="36" actId="1076"/>
        <pc:sldMkLst>
          <pc:docMk/>
          <pc:sldMk cId="0" sldId="256"/>
        </pc:sldMkLst>
        <pc:spChg chg="mod">
          <ac:chgData name="Hamsika Peddina" userId="0a25584e6d77972b" providerId="LiveId" clId="{9A3C3C37-A6E1-428F-8F58-D52E9F9B9DB6}" dt="2026-10-14T06:24:47.970" v="32" actId="1076"/>
          <ac:spMkLst>
            <pc:docMk/>
            <pc:sldMk cId="0" sldId="256"/>
            <ac:spMk id="2" creationId="{00000000-0000-0000-0000-000000000000}"/>
          </ac:spMkLst>
        </pc:spChg>
        <pc:spChg chg="mod">
          <ac:chgData name="Hamsika Peddina" userId="0a25584e6d77972b" providerId="LiveId" clId="{9A3C3C37-A6E1-428F-8F58-D52E9F9B9DB6}" dt="2026-10-14T06:25:07.076" v="36" actId="1076"/>
          <ac:spMkLst>
            <pc:docMk/>
            <pc:sldMk cId="0" sldId="256"/>
            <ac:spMk id="5" creationId="{F0F66AEA-3EE3-4E99-810F-0E38B9771197}"/>
          </ac:spMkLst>
        </pc:spChg>
      </pc:sldChg>
      <pc:sldChg chg="modSp mod">
        <pc:chgData name="Hamsika Peddina" userId="0a25584e6d77972b" providerId="LiveId" clId="{9A3C3C37-A6E1-428F-8F58-D52E9F9B9DB6}" dt="2026-10-14T04:54:50.596" v="12" actId="20577"/>
        <pc:sldMkLst>
          <pc:docMk/>
          <pc:sldMk cId="1672422596" sldId="264"/>
        </pc:sldMkLst>
        <pc:spChg chg="mod">
          <ac:chgData name="Hamsika Peddina" userId="0a25584e6d77972b" providerId="LiveId" clId="{9A3C3C37-A6E1-428F-8F58-D52E9F9B9DB6}" dt="2026-10-14T04:54:50.596" v="12" actId="20577"/>
          <ac:spMkLst>
            <pc:docMk/>
            <pc:sldMk cId="1672422596" sldId="264"/>
            <ac:spMk id="5" creationId="{A528A426-3951-4330-B1B6-1E0B09CEC17F}"/>
          </ac:spMkLst>
        </pc:spChg>
      </pc:sldChg>
      <pc:sldChg chg="modSp mod">
        <pc:chgData name="Hamsika Peddina" userId="0a25584e6d77972b" providerId="LiveId" clId="{9A3C3C37-A6E1-428F-8F58-D52E9F9B9DB6}" dt="2026-10-14T04:56:58.094" v="15" actId="20577"/>
        <pc:sldMkLst>
          <pc:docMk/>
          <pc:sldMk cId="2292750904" sldId="266"/>
        </pc:sldMkLst>
        <pc:spChg chg="mod">
          <ac:chgData name="Hamsika Peddina" userId="0a25584e6d77972b" providerId="LiveId" clId="{9A3C3C37-A6E1-428F-8F58-D52E9F9B9DB6}" dt="2026-10-14T04:56:58.094" v="15" actId="20577"/>
          <ac:spMkLst>
            <pc:docMk/>
            <pc:sldMk cId="2292750904" sldId="266"/>
            <ac:spMk id="5" creationId="{DD899904-D8FA-4E6B-8F79-006C86C22A9A}"/>
          </ac:spMkLst>
        </pc:spChg>
      </pc:sldChg>
      <pc:sldChg chg="addSp modSp new mod ord">
        <pc:chgData name="Hamsika Peddina" userId="0a25584e6d77972b" providerId="LiveId" clId="{9A3C3C37-A6E1-428F-8F58-D52E9F9B9DB6}" dt="2026-10-14T06:15:45.529" v="21" actId="1076"/>
        <pc:sldMkLst>
          <pc:docMk/>
          <pc:sldMk cId="2004426524" sldId="269"/>
        </pc:sldMkLst>
        <pc:picChg chg="add mod">
          <ac:chgData name="Hamsika Peddina" userId="0a25584e6d77972b" providerId="LiveId" clId="{9A3C3C37-A6E1-428F-8F58-D52E9F9B9DB6}" dt="2026-10-14T06:15:45.529" v="21" actId="1076"/>
          <ac:picMkLst>
            <pc:docMk/>
            <pc:sldMk cId="2004426524" sldId="269"/>
            <ac:picMk id="3" creationId="{31E63650-910A-A348-83B8-892C5849A5FC}"/>
          </ac:picMkLst>
        </pc:picChg>
      </pc:sldChg>
      <pc:sldChg chg="addSp new mod">
        <pc:chgData name="Hamsika Peddina" userId="0a25584e6d77972b" providerId="LiveId" clId="{9A3C3C37-A6E1-428F-8F58-D52E9F9B9DB6}" dt="2026-10-14T06:15:53.884" v="23" actId="22"/>
        <pc:sldMkLst>
          <pc:docMk/>
          <pc:sldMk cId="3474136913" sldId="270"/>
        </pc:sldMkLst>
        <pc:picChg chg="add">
          <ac:chgData name="Hamsika Peddina" userId="0a25584e6d77972b" providerId="LiveId" clId="{9A3C3C37-A6E1-428F-8F58-D52E9F9B9DB6}" dt="2026-10-14T06:15:53.884" v="23" actId="22"/>
          <ac:picMkLst>
            <pc:docMk/>
            <pc:sldMk cId="3474136913" sldId="270"/>
            <ac:picMk id="3" creationId="{D9A85923-8BB4-5BE7-60A2-6D49FFCE805E}"/>
          </ac:picMkLst>
        </pc:picChg>
      </pc:sldChg>
      <pc:sldChg chg="addSp new mod">
        <pc:chgData name="Hamsika Peddina" userId="0a25584e6d77972b" providerId="LiveId" clId="{9A3C3C37-A6E1-428F-8F58-D52E9F9B9DB6}" dt="2026-10-14T06:17:12.777" v="25" actId="22"/>
        <pc:sldMkLst>
          <pc:docMk/>
          <pc:sldMk cId="1294391555" sldId="271"/>
        </pc:sldMkLst>
        <pc:picChg chg="add">
          <ac:chgData name="Hamsika Peddina" userId="0a25584e6d77972b" providerId="LiveId" clId="{9A3C3C37-A6E1-428F-8F58-D52E9F9B9DB6}" dt="2026-10-14T06:17:12.777" v="25" actId="22"/>
          <ac:picMkLst>
            <pc:docMk/>
            <pc:sldMk cId="1294391555" sldId="271"/>
            <ac:picMk id="3" creationId="{35323C8C-A0D0-507A-D48D-E1E4EA53A6F7}"/>
          </ac:picMkLst>
        </pc:picChg>
      </pc:sldChg>
      <pc:sldChg chg="addSp modSp new mod">
        <pc:chgData name="Hamsika Peddina" userId="0a25584e6d77972b" providerId="LiveId" clId="{9A3C3C37-A6E1-428F-8F58-D52E9F9B9DB6}" dt="2026-10-14T06:23:53.090" v="30" actId="1076"/>
        <pc:sldMkLst>
          <pc:docMk/>
          <pc:sldMk cId="3015667125" sldId="272"/>
        </pc:sldMkLst>
        <pc:spChg chg="add">
          <ac:chgData name="Hamsika Peddina" userId="0a25584e6d77972b" providerId="LiveId" clId="{9A3C3C37-A6E1-428F-8F58-D52E9F9B9DB6}" dt="2026-10-14T06:21:26.233" v="27"/>
          <ac:spMkLst>
            <pc:docMk/>
            <pc:sldMk cId="3015667125" sldId="272"/>
            <ac:spMk id="2" creationId="{3058E62C-9755-9C5B-DD7E-442035CE2D1B}"/>
          </ac:spMkLst>
        </pc:spChg>
        <pc:picChg chg="add mod">
          <ac:chgData name="Hamsika Peddina" userId="0a25584e6d77972b" providerId="LiveId" clId="{9A3C3C37-A6E1-428F-8F58-D52E9F9B9DB6}" dt="2026-10-14T06:23:53.090" v="30" actId="1076"/>
          <ac:picMkLst>
            <pc:docMk/>
            <pc:sldMk cId="3015667125" sldId="272"/>
            <ac:picMk id="4" creationId="{6CC7FB65-E01F-BA73-B29A-B9E7474FD988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B1BC09-D557-492E-9C5D-E4CF9E078DE2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EED5C5B-9EF4-44F9-8A5E-F9CA765F3D6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B1BC09-D557-492E-9C5D-E4CF9E078DE2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EED5C5B-9EF4-44F9-8A5E-F9CA765F3D6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B1BC09-D557-492E-9C5D-E4CF9E078DE2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EED5C5B-9EF4-44F9-8A5E-F9CA765F3D6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B1BC09-D557-492E-9C5D-E4CF9E078DE2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EED5C5B-9EF4-44F9-8A5E-F9CA765F3D6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B1BC09-D557-492E-9C5D-E4CF9E078DE2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EED5C5B-9EF4-44F9-8A5E-F9CA765F3D6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B1BC09-D557-492E-9C5D-E4CF9E078DE2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EED5C5B-9EF4-44F9-8A5E-F9CA765F3D6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B1BC09-D557-492E-9C5D-E4CF9E078DE2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EED5C5B-9EF4-44F9-8A5E-F9CA765F3D6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B1BC09-D557-492E-9C5D-E4CF9E078DE2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EED5C5B-9EF4-44F9-8A5E-F9CA765F3D6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B1BC09-D557-492E-9C5D-E4CF9E078DE2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EED5C5B-9EF4-44F9-8A5E-F9CA765F3D6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B1BC09-D557-492E-9C5D-E4CF9E078DE2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EED5C5B-9EF4-44F9-8A5E-F9CA765F3D6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B1BC09-D557-492E-9C5D-E4CF9E078DE2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EED5C5B-9EF4-44F9-8A5E-F9CA765F3D6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  <a:alpha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11" descr="KL University Hyderabad"/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4450"/>
            <a:ext cx="2101850" cy="900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Rectangle 7"/>
          <p:cNvSpPr/>
          <p:nvPr userDrawn="1"/>
        </p:nvSpPr>
        <p:spPr>
          <a:xfrm>
            <a:off x="0" y="6811963"/>
            <a:ext cx="12192000" cy="46037"/>
          </a:xfrm>
          <a:prstGeom prst="rect">
            <a:avLst/>
          </a:prstGeom>
          <a:solidFill>
            <a:srgbClr val="BA25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9" name="Rectangle 8"/>
          <p:cNvSpPr/>
          <p:nvPr userDrawn="1"/>
        </p:nvSpPr>
        <p:spPr>
          <a:xfrm>
            <a:off x="0" y="0"/>
            <a:ext cx="12192000" cy="46038"/>
          </a:xfrm>
          <a:prstGeom prst="rect">
            <a:avLst/>
          </a:prstGeom>
          <a:solidFill>
            <a:srgbClr val="BA25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pic>
        <p:nvPicPr>
          <p:cNvPr id="10" name="Picture 6" descr="Background pattern&#10;&#10;Description automatically generated"/>
          <p:cNvPicPr>
            <a:picLocks noChangeAspect="1" noChangeArrowheads="1"/>
          </p:cNvPicPr>
          <p:nvPr userDrawn="1"/>
        </p:nvPicPr>
        <p:blipFill>
          <a:blip r:embed="rId1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003550" cy="300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fif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9868" y="1269822"/>
            <a:ext cx="9144000" cy="2316702"/>
          </a:xfrm>
        </p:spPr>
        <p:txBody>
          <a:bodyPr/>
          <a:lstStyle/>
          <a:p>
            <a:br>
              <a:rPr lang="en-US" sz="3200" b="1" dirty="0">
                <a:solidFill>
                  <a:srgbClr val="C00000"/>
                </a:solidFill>
                <a:latin typeface="+mn-lt"/>
              </a:rPr>
            </a:br>
            <a:br>
              <a:rPr lang="en-US" sz="3200" b="1" dirty="0">
                <a:solidFill>
                  <a:srgbClr val="C00000"/>
                </a:solidFill>
                <a:latin typeface="+mn-lt"/>
              </a:rPr>
            </a:br>
            <a:br>
              <a:rPr lang="en-US" sz="3200" b="1" dirty="0">
                <a:solidFill>
                  <a:srgbClr val="C00000"/>
                </a:solidFill>
                <a:latin typeface="+mn-lt"/>
              </a:rPr>
            </a:br>
            <a:br>
              <a:rPr lang="en-US" sz="3200" b="1" dirty="0">
                <a:solidFill>
                  <a:srgbClr val="C00000"/>
                </a:solidFill>
                <a:latin typeface="+mn-lt"/>
              </a:rPr>
            </a:br>
            <a:br>
              <a:rPr lang="en-US" sz="3200" b="1" dirty="0">
                <a:solidFill>
                  <a:srgbClr val="C00000"/>
                </a:solidFill>
                <a:latin typeface="+mn-lt"/>
              </a:rPr>
            </a:br>
            <a:br>
              <a:rPr lang="en-US" sz="3200" b="1" dirty="0">
                <a:solidFill>
                  <a:srgbClr val="C00000"/>
                </a:solidFill>
                <a:latin typeface="+mn-lt"/>
              </a:rPr>
            </a:br>
            <a:br>
              <a:rPr lang="en-US" sz="3200" b="1" dirty="0">
                <a:solidFill>
                  <a:srgbClr val="C00000"/>
                </a:solidFill>
                <a:latin typeface="+mn-lt"/>
              </a:rPr>
            </a:br>
            <a:r>
              <a:rPr lang="en-IN" sz="3200" b="1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MACHINE LEARNING</a:t>
            </a:r>
            <a:br>
              <a:rPr lang="en-IN" sz="3200" b="1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</a:br>
            <a:r>
              <a:rPr lang="en-IN" sz="3200" b="1" i="0" dirty="0"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25SC2107E</a:t>
            </a:r>
            <a:br>
              <a:rPr lang="en-US" sz="3200" b="1" i="0" dirty="0">
                <a:solidFill>
                  <a:srgbClr val="C00000"/>
                </a:solidFill>
                <a:effectLst/>
                <a:latin typeface="+mn-lt"/>
              </a:rPr>
            </a:br>
            <a:br>
              <a:rPr lang="en-US" sz="3200" b="1" dirty="0">
                <a:solidFill>
                  <a:srgbClr val="C00000"/>
                </a:solidFill>
                <a:latin typeface="+mn-lt"/>
              </a:rPr>
            </a:br>
            <a:r>
              <a:rPr lang="en-US" sz="3200" b="1" dirty="0">
                <a:solidFill>
                  <a:srgbClr val="C00000"/>
                </a:solidFill>
                <a:latin typeface="+mn-lt"/>
              </a:rPr>
              <a:t>Title of the project:</a:t>
            </a:r>
            <a:br>
              <a:rPr lang="en-US" sz="3200" b="1" dirty="0">
                <a:solidFill>
                  <a:srgbClr val="C00000"/>
                </a:solidFill>
                <a:latin typeface="+mn-lt"/>
              </a:rPr>
            </a:br>
            <a:r>
              <a:rPr lang="en-US" sz="3200" b="1" dirty="0">
                <a:solidFill>
                  <a:srgbClr val="FF0000"/>
                </a:solidFill>
              </a:rPr>
              <a:t>Heart Disease Prediction Using Ridge- and Lasso-Regularized Logistic Regression</a:t>
            </a:r>
            <a:br>
              <a:rPr lang="en-US" sz="3200" b="1" dirty="0">
                <a:solidFill>
                  <a:srgbClr val="C00000"/>
                </a:solidFill>
                <a:latin typeface="+mn-lt"/>
              </a:rPr>
            </a:br>
            <a:endParaRPr lang="en-US" sz="3200" b="1" dirty="0">
              <a:solidFill>
                <a:srgbClr val="C00000"/>
              </a:solidFill>
              <a:latin typeface="+mn-lt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12233" y="3978745"/>
            <a:ext cx="5029199" cy="1396014"/>
          </a:xfrm>
        </p:spPr>
        <p:txBody>
          <a:bodyPr/>
          <a:lstStyle/>
          <a:p>
            <a:pPr marL="171450" algn="ctr">
              <a:lnSpc>
                <a:spcPct val="107000"/>
              </a:lnSpc>
              <a:spcAft>
                <a:spcPts val="800"/>
              </a:spcAft>
            </a:pPr>
            <a:endParaRPr lang="en-US" sz="1800" kern="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Gautami" panose="020B0502040204020203" pitchFamily="34" charset="0"/>
            </a:endParaRPr>
          </a:p>
          <a:p>
            <a:pPr marL="171450" algn="ctr">
              <a:lnSpc>
                <a:spcPct val="107000"/>
              </a:lnSpc>
              <a:spcAft>
                <a:spcPts val="800"/>
              </a:spcAft>
            </a:pPr>
            <a:r>
              <a:rPr lang="en-US" sz="1800" kern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Gautami" panose="020B0502040204020203" pitchFamily="34" charset="0"/>
              </a:rPr>
              <a:t>Under the Esteemed Guidance of</a:t>
            </a:r>
            <a:endParaRPr lang="en-IN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Gautami" panose="020B0502040204020203" pitchFamily="34" charset="0"/>
            </a:endParaRPr>
          </a:p>
          <a:p>
            <a:r>
              <a:rPr lang="en-US" dirty="0">
                <a:solidFill>
                  <a:srgbClr val="0070C0"/>
                </a:solidFill>
              </a:rPr>
              <a:t>Rani </a:t>
            </a:r>
            <a:r>
              <a:rPr lang="en-US" dirty="0" err="1">
                <a:solidFill>
                  <a:srgbClr val="0070C0"/>
                </a:solidFill>
              </a:rPr>
              <a:t>Medidha</a:t>
            </a:r>
            <a:endParaRPr lang="en-US" dirty="0">
              <a:solidFill>
                <a:srgbClr val="0070C0"/>
              </a:solidFill>
            </a:endParaRPr>
          </a:p>
          <a:p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F66AEA-3EE3-4E99-810F-0E38B9771197}"/>
              </a:ext>
            </a:extLst>
          </p:cNvPr>
          <p:cNvSpPr txBox="1"/>
          <p:nvPr/>
        </p:nvSpPr>
        <p:spPr>
          <a:xfrm>
            <a:off x="6800799" y="3978745"/>
            <a:ext cx="5391201" cy="232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2400"/>
              <a:buNone/>
            </a:pPr>
            <a:r>
              <a:rPr lang="en-US" sz="1800" dirty="0">
                <a:solidFill>
                  <a:srgbClr val="0070C0"/>
                </a:solidFill>
              </a:rPr>
              <a:t>Team Members</a:t>
            </a:r>
            <a:endParaRPr lang="en-US" sz="1800" dirty="0"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2400"/>
              <a:buNone/>
            </a:pPr>
            <a:r>
              <a:rPr lang="en-US" sz="1800" dirty="0">
                <a:solidFill>
                  <a:srgbClr val="0070C0"/>
                </a:solidFill>
              </a:rPr>
              <a:t>Name: </a:t>
            </a:r>
            <a:r>
              <a:rPr lang="en-US" sz="1800" dirty="0" err="1">
                <a:solidFill>
                  <a:srgbClr val="0070C0"/>
                </a:solidFill>
              </a:rPr>
              <a:t>B.</a:t>
            </a:r>
            <a:r>
              <a:rPr lang="en-US" dirty="0" err="1">
                <a:solidFill>
                  <a:srgbClr val="0070C0"/>
                </a:solidFill>
              </a:rPr>
              <a:t>Devi</a:t>
            </a:r>
            <a:r>
              <a:rPr lang="en-US" dirty="0">
                <a:solidFill>
                  <a:srgbClr val="0070C0"/>
                </a:solidFill>
              </a:rPr>
              <a:t> Charitha</a:t>
            </a:r>
            <a:endParaRPr lang="en-US" sz="1800" dirty="0">
              <a:solidFill>
                <a:srgbClr val="0070C0"/>
              </a:solidFill>
            </a:endParaRPr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2400"/>
              <a:buNone/>
            </a:pPr>
            <a:r>
              <a:rPr lang="en-US" sz="1800" dirty="0" err="1">
                <a:solidFill>
                  <a:srgbClr val="0070C0"/>
                </a:solidFill>
              </a:rPr>
              <a:t>Rollno</a:t>
            </a:r>
            <a:r>
              <a:rPr lang="en-US" sz="1800" dirty="0">
                <a:solidFill>
                  <a:srgbClr val="0070C0"/>
                </a:solidFill>
              </a:rPr>
              <a:t>. 2520030462</a:t>
            </a:r>
          </a:p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2400"/>
              <a:buNone/>
            </a:pPr>
            <a:r>
              <a:rPr lang="en-US" sz="1800" dirty="0">
                <a:solidFill>
                  <a:srgbClr val="0070C0"/>
                </a:solidFill>
              </a:rPr>
              <a:t>Name: </a:t>
            </a:r>
            <a:r>
              <a:rPr lang="en-US" sz="1800" dirty="0" err="1">
                <a:solidFill>
                  <a:srgbClr val="0070C0"/>
                </a:solidFill>
              </a:rPr>
              <a:t>P.Hamsika</a:t>
            </a:r>
            <a:endParaRPr lang="en-US" sz="1800" dirty="0">
              <a:solidFill>
                <a:srgbClr val="0070C0"/>
              </a:solidFill>
            </a:endParaRPr>
          </a:p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Clr>
                <a:srgbClr val="0070C0"/>
              </a:buClr>
              <a:buSzPts val="2400"/>
              <a:buNone/>
            </a:pPr>
            <a:r>
              <a:rPr lang="en-US" sz="1800" dirty="0" err="1">
                <a:solidFill>
                  <a:srgbClr val="0070C0"/>
                </a:solidFill>
              </a:rPr>
              <a:t>Rollno</a:t>
            </a:r>
            <a:r>
              <a:rPr lang="en-US" sz="1800" dirty="0">
                <a:solidFill>
                  <a:srgbClr val="0070C0"/>
                </a:solidFill>
              </a:rPr>
              <a:t>. 2520030586</a:t>
            </a:r>
          </a:p>
          <a:p>
            <a:pPr marL="171450" lvl="0" indent="0" algn="ctr" rtl="0">
              <a:lnSpc>
                <a:spcPct val="107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lang="en-US" sz="19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C70C049-38C4-198F-3181-AACE07DE24AE}"/>
              </a:ext>
            </a:extLst>
          </p:cNvPr>
          <p:cNvSpPr txBox="1"/>
          <p:nvPr/>
        </p:nvSpPr>
        <p:spPr>
          <a:xfrm>
            <a:off x="3736109" y="806448"/>
            <a:ext cx="6936386" cy="58355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 algn="l" rtl="0" eaLnBrk="1" fontAlgn="t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200" b="0" i="0" u="none" strike="noStrike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Abstract</a:t>
            </a:r>
          </a:p>
          <a:p>
            <a:pPr marL="457200" indent="-457200" algn="l" rtl="0" eaLnBrk="1" fontAlgn="t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200" b="0" i="0" u="none" strike="noStrike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Introduction</a:t>
            </a:r>
            <a:endParaRPr lang="en-IN" sz="3200" b="0" i="0" u="none" strike="noStrike" dirty="0">
              <a:effectLst/>
              <a:latin typeface="Arial" panose="020B0604020202020204" pitchFamily="34" charset="0"/>
            </a:endParaRPr>
          </a:p>
          <a:p>
            <a:pPr marL="457200" indent="-457200" algn="l" rtl="0" eaLnBrk="1" fontAlgn="t" latinLnBrk="0" hangingPunct="1">
              <a:lnSpc>
                <a:spcPct val="15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Gautami" panose="020B0502040204020203" pitchFamily="34" charset="0"/>
              </a:rPr>
              <a:t>Literature survey</a:t>
            </a:r>
            <a:endParaRPr lang="en-IN" sz="3200" b="0" i="0" u="none" strike="noStrike" dirty="0">
              <a:effectLst/>
              <a:latin typeface="Arial" panose="020B0604020202020204" pitchFamily="34" charset="0"/>
            </a:endParaRPr>
          </a:p>
          <a:p>
            <a:pPr marL="457200" indent="-457200" algn="l" rtl="0" eaLnBrk="1" fontAlgn="t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Gautami" panose="020B0502040204020203" pitchFamily="34" charset="0"/>
              </a:rPr>
              <a:t>Problem Statement and Objectives</a:t>
            </a:r>
            <a:endParaRPr lang="en-IN" sz="3200" b="0" i="0" u="none" strike="noStrike" dirty="0">
              <a:effectLst/>
              <a:latin typeface="Arial" panose="020B0604020202020204" pitchFamily="34" charset="0"/>
            </a:endParaRPr>
          </a:p>
          <a:p>
            <a:pPr marL="457200" indent="-457200" algn="l" rtl="0" eaLnBrk="1" fontAlgn="t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Gautami" panose="020B0502040204020203" pitchFamily="34" charset="0"/>
              </a:rPr>
              <a:t>Hardware and Software requirements</a:t>
            </a:r>
            <a:endParaRPr lang="en-IN" sz="3200" b="0" i="0" u="none" strike="noStrike" dirty="0">
              <a:effectLst/>
              <a:latin typeface="Arial" panose="020B0604020202020204" pitchFamily="34" charset="0"/>
            </a:endParaRPr>
          </a:p>
          <a:p>
            <a:pPr marL="457200" indent="-457200" algn="l" rtl="0" eaLnBrk="1" fontAlgn="t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Gautami" panose="020B0502040204020203" pitchFamily="34" charset="0"/>
              </a:rPr>
              <a:t>Results</a:t>
            </a:r>
            <a:endParaRPr lang="en-IN" sz="3200" b="0" i="0" u="none" strike="noStrike" dirty="0">
              <a:effectLst/>
              <a:latin typeface="Arial" panose="020B0604020202020204" pitchFamily="34" charset="0"/>
            </a:endParaRPr>
          </a:p>
          <a:p>
            <a:pPr marL="457200" indent="-457200" algn="l" rtl="0" eaLnBrk="1" fontAlgn="t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Gautami" panose="020B0502040204020203" pitchFamily="34" charset="0"/>
              </a:rPr>
              <a:t>Conclusion </a:t>
            </a:r>
          </a:p>
          <a:p>
            <a:pPr marL="457200" indent="-457200" algn="l" rtl="0" eaLnBrk="1" fontAlgn="t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Gautami" panose="020B0502040204020203" pitchFamily="34" charset="0"/>
              </a:rPr>
              <a:t>Future Scope </a:t>
            </a:r>
            <a:endParaRPr lang="en-IN" sz="3200" b="0" i="0" u="none" strike="noStrike" dirty="0">
              <a:effectLst/>
              <a:latin typeface="Arial" panose="020B0604020202020204" pitchFamily="34" charset="0"/>
            </a:endParaRPr>
          </a:p>
          <a:p>
            <a:endParaRPr lang="en-IN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EAC2F32-24D5-FDE9-EB0F-31C7733C95E6}"/>
              </a:ext>
            </a:extLst>
          </p:cNvPr>
          <p:cNvSpPr/>
          <p:nvPr/>
        </p:nvSpPr>
        <p:spPr>
          <a:xfrm>
            <a:off x="3736109" y="221673"/>
            <a:ext cx="4719782" cy="51723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A499C0-FC38-6642-1E16-B8CFFC9C9314}"/>
              </a:ext>
            </a:extLst>
          </p:cNvPr>
          <p:cNvSpPr txBox="1"/>
          <p:nvPr/>
        </p:nvSpPr>
        <p:spPr>
          <a:xfrm>
            <a:off x="2660072" y="221673"/>
            <a:ext cx="68718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Contents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/>
          <p:cNvSpPr/>
          <p:nvPr/>
        </p:nvSpPr>
        <p:spPr>
          <a:xfrm>
            <a:off x="3736109" y="221673"/>
            <a:ext cx="4719782" cy="51723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2660072" y="221673"/>
            <a:ext cx="68718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Abstract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28A426-3951-4330-B1B6-1E0B09CEC17F}"/>
              </a:ext>
            </a:extLst>
          </p:cNvPr>
          <p:cNvSpPr txBox="1"/>
          <p:nvPr/>
        </p:nvSpPr>
        <p:spPr>
          <a:xfrm>
            <a:off x="2782276" y="1971604"/>
            <a:ext cx="8135815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Heart disease is a major health concern, and early risk prediction can help identify individuals who may require further medical attention. This project develops a machine learning-based application using Logistic Regression with Ridge (L2) and Lasso (L1) regularization to predict heart disease risk based on patient health attributes.</a:t>
            </a:r>
          </a:p>
          <a:p>
            <a:endParaRPr lang="en-US" dirty="0"/>
          </a:p>
          <a:p>
            <a:r>
              <a:rPr lang="en-US" dirty="0"/>
              <a:t>The system performs data preprocessing, feature analysis, model training, and comparison of the three models. Their performance is evaluated using accuracy, precision, recall, F1-score, and ROC-AUC to identify the best-performing model.</a:t>
            </a:r>
          </a:p>
          <a:p>
            <a:r>
              <a:rPr lang="en-US" dirty="0"/>
              <a:t>The application provides risk probability, risk classification, important feature analysis, model performance visualization, input validation, and prediction history through a simple graphical interface. It is developed using Python, Pandas, NumPy, Scikit-learn, Matplotlib.</a:t>
            </a:r>
          </a:p>
        </p:txBody>
      </p:sp>
    </p:spTree>
    <p:extLst>
      <p:ext uri="{BB962C8B-B14F-4D97-AF65-F5344CB8AC3E}">
        <p14:creationId xmlns:p14="http://schemas.microsoft.com/office/powerpoint/2010/main" val="16724225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/>
          <p:cNvSpPr/>
          <p:nvPr/>
        </p:nvSpPr>
        <p:spPr>
          <a:xfrm>
            <a:off x="3736109" y="221673"/>
            <a:ext cx="4719782" cy="51723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660072" y="193965"/>
            <a:ext cx="68718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Introduction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0503AE-AA2F-4DDA-A3CB-739A9E04DD09}"/>
              </a:ext>
            </a:extLst>
          </p:cNvPr>
          <p:cNvSpPr txBox="1"/>
          <p:nvPr/>
        </p:nvSpPr>
        <p:spPr>
          <a:xfrm>
            <a:off x="2954216" y="1987234"/>
            <a:ext cx="7268308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Background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Heart disease is a significant health problem worldwide.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Machine learning can identify patterns in patient health data.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Logistic Regression is commonly used for binary classification.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Regularization helps control overfitting and improve model generalization.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</a:p>
          <a:p>
            <a:r>
              <a:rPr lang="en-US" b="1" dirty="0"/>
              <a:t>Proposed Approach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Use patient health attributes to predict heart disease risk.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Compare standard Logistic Regression with Ridge and Lasso regularization.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Develop a simple desktop application for user-friendly prediction. 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Main Idea</a:t>
            </a:r>
          </a:p>
          <a:p>
            <a:r>
              <a:rPr lang="en-US" b="1" dirty="0"/>
              <a:t>Train multiple models → Compare performance → Select the best model → Predict heart disease risk.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/>
          <p:cNvSpPr/>
          <p:nvPr/>
        </p:nvSpPr>
        <p:spPr>
          <a:xfrm>
            <a:off x="2660072" y="221673"/>
            <a:ext cx="6723625" cy="65579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2660072" y="300715"/>
            <a:ext cx="68718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Problem Statement and Objectives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B490A7-F923-451B-A84D-C4BCCE18BCB7}"/>
              </a:ext>
            </a:extLst>
          </p:cNvPr>
          <p:cNvSpPr txBox="1"/>
          <p:nvPr/>
        </p:nvSpPr>
        <p:spPr>
          <a:xfrm>
            <a:off x="2743199" y="2005043"/>
            <a:ext cx="8135815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Problem Statement</a:t>
            </a:r>
          </a:p>
          <a:p>
            <a:r>
              <a:rPr lang="en-US" dirty="0"/>
              <a:t>Traditional heart disease risk assessment may require considerable time and expert analysis. A machine learning-based application is needed to analyze patient health attributes and provide a quick, consistent estimate of heart disease risk.</a:t>
            </a:r>
          </a:p>
          <a:p>
            <a:endParaRPr lang="en-US" dirty="0"/>
          </a:p>
          <a:p>
            <a:r>
              <a:rPr lang="en-US" b="1" dirty="0"/>
              <a:t>Objectives</a:t>
            </a:r>
          </a:p>
          <a:p>
            <a:pPr>
              <a:buFont typeface="+mj-lt"/>
              <a:buAutoNum type="arabicPeriod"/>
            </a:pPr>
            <a:r>
              <a:rPr lang="en-US" dirty="0"/>
              <a:t>Develop a heart disease prediction model using Logistic Regression. </a:t>
            </a:r>
          </a:p>
          <a:p>
            <a:pPr>
              <a:buFont typeface="+mj-lt"/>
              <a:buAutoNum type="arabicPeriod"/>
            </a:pPr>
            <a:r>
              <a:rPr lang="en-US" dirty="0"/>
              <a:t>Apply Ridge and Lasso regularization to reduce overfitting. </a:t>
            </a:r>
          </a:p>
          <a:p>
            <a:pPr>
              <a:buFont typeface="+mj-lt"/>
              <a:buAutoNum type="arabicPeriod"/>
            </a:pPr>
            <a:r>
              <a:rPr lang="en-US" dirty="0"/>
              <a:t>Compare the performance of all three models. </a:t>
            </a:r>
          </a:p>
          <a:p>
            <a:pPr>
              <a:buFont typeface="+mj-lt"/>
              <a:buAutoNum type="arabicPeriod"/>
            </a:pPr>
            <a:r>
              <a:rPr lang="en-US" dirty="0"/>
              <a:t>Identify important features influencing predictions. </a:t>
            </a:r>
          </a:p>
          <a:p>
            <a:pPr>
              <a:buFont typeface="+mj-lt"/>
              <a:buAutoNum type="arabicPeriod"/>
            </a:pPr>
            <a:r>
              <a:rPr lang="en-US" dirty="0"/>
              <a:t>Develop a simple graphical user interface using </a:t>
            </a:r>
            <a:r>
              <a:rPr lang="en-US" dirty="0" err="1"/>
              <a:t>Tkinter</a:t>
            </a:r>
            <a:r>
              <a:rPr lang="en-US" dirty="0"/>
              <a:t>. </a:t>
            </a:r>
          </a:p>
          <a:p>
            <a:pPr>
              <a:buFont typeface="+mj-lt"/>
              <a:buAutoNum type="arabicPeriod"/>
            </a:pPr>
            <a:r>
              <a:rPr lang="en-US" dirty="0"/>
              <a:t>Provide risk probability and prediction results. </a:t>
            </a:r>
          </a:p>
          <a:p>
            <a:pPr>
              <a:buFont typeface="+mj-lt"/>
              <a:buAutoNum type="arabicPeriod"/>
            </a:pPr>
            <a:r>
              <a:rPr lang="en-US" dirty="0"/>
              <a:t>Display model performance using graphs and evaluation metrics. </a:t>
            </a:r>
          </a:p>
          <a:p>
            <a:pPr>
              <a:buFont typeface="+mj-lt"/>
              <a:buAutoNum type="arabicPeriod"/>
            </a:pPr>
            <a:r>
              <a:rPr lang="en-US" dirty="0"/>
              <a:t>Maintain prediction history for easier review.</a:t>
            </a:r>
          </a:p>
        </p:txBody>
      </p:sp>
    </p:spTree>
    <p:extLst>
      <p:ext uri="{BB962C8B-B14F-4D97-AF65-F5344CB8AC3E}">
        <p14:creationId xmlns:p14="http://schemas.microsoft.com/office/powerpoint/2010/main" val="34410266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/>
          <p:cNvSpPr/>
          <p:nvPr/>
        </p:nvSpPr>
        <p:spPr>
          <a:xfrm>
            <a:off x="3736109" y="221673"/>
            <a:ext cx="4719782" cy="51723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660072" y="193965"/>
            <a:ext cx="68718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Flow Chart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24468B8-575B-4802-9DD2-D0C27955E3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3792" y="1383323"/>
            <a:ext cx="5715000" cy="480646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/>
          <p:cNvSpPr/>
          <p:nvPr/>
        </p:nvSpPr>
        <p:spPr>
          <a:xfrm>
            <a:off x="3736109" y="221673"/>
            <a:ext cx="4719782" cy="51723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660072" y="193965"/>
            <a:ext cx="68718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kern="0" dirty="0">
                <a:solidFill>
                  <a:schemeClr val="bg1"/>
                </a:solidFill>
                <a:effectLst/>
                <a:ea typeface="Times New Roman" panose="02020603050405020304" pitchFamily="18" charset="0"/>
              </a:rPr>
              <a:t>Results</a:t>
            </a:r>
            <a:endParaRPr lang="en-US" sz="3200" b="1" dirty="0">
              <a:solidFill>
                <a:schemeClr val="bg1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9D49DC0-9FE6-4493-96F8-00C76BD89D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5857" y="2020873"/>
            <a:ext cx="8937154" cy="3323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system will train and compare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Logistic Regression, Ridge Logistic Regression, and Lasso Logistic Regression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models.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Model performance will be evaluated using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Accuracy, Precision, Recall, F1-score, and ROC-AUC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confusion matrix will be used to analyze correct and incorrect predictions.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Ridge and Lasso regularization are expected to reduce overfitting and improve model reliability.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best-performing model will be selected based on the evaluation results.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Tkinter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-based application will accept patient health details and predict the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risk of heart disease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application will display the predicted risk category and probability score.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Feature analysis will help identify the health attributes that contribute most to the prediction.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system is intended for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risk prediction and awareness, not medical diagnosis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060922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1E63650-910A-A348-83B8-892C5849A5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865" y="1520024"/>
            <a:ext cx="10722269" cy="3817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44265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A85923-8BB4-5BE7-60A2-6D49FFCE8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382" y="830355"/>
            <a:ext cx="10341236" cy="5197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41369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5323C8C-A0D0-507A-D48D-E1E4EA53A6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002" y="1516214"/>
            <a:ext cx="10325995" cy="3825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43915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/>
          <p:cNvSpPr/>
          <p:nvPr/>
        </p:nvSpPr>
        <p:spPr>
          <a:xfrm>
            <a:off x="3654372" y="262038"/>
            <a:ext cx="6419945" cy="60395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547840" y="302403"/>
            <a:ext cx="68718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kern="0" dirty="0">
                <a:solidFill>
                  <a:schemeClr val="bg1"/>
                </a:solidFill>
                <a:effectLst/>
                <a:ea typeface="Times New Roman" panose="02020603050405020304" pitchFamily="18" charset="0"/>
              </a:rPr>
              <a:t>Hardware and Software requirements</a:t>
            </a:r>
            <a:endParaRPr lang="en-US" sz="2800" b="1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899904-D8FA-4E6B-8F79-006C86C22A9A}"/>
              </a:ext>
            </a:extLst>
          </p:cNvPr>
          <p:cNvSpPr txBox="1"/>
          <p:nvPr/>
        </p:nvSpPr>
        <p:spPr>
          <a:xfrm>
            <a:off x="3547840" y="1586472"/>
            <a:ext cx="60960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Hardware Requirements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b="1" dirty="0"/>
              <a:t>Processor:</a:t>
            </a:r>
            <a:r>
              <a:rPr lang="en-IN" dirty="0"/>
              <a:t> Intel Core i3 or equivalent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b="1" dirty="0"/>
              <a:t>RAM:</a:t>
            </a:r>
            <a:r>
              <a:rPr lang="en-IN" dirty="0"/>
              <a:t> Minimum 4 GB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b="1" dirty="0"/>
              <a:t>Storage:</a:t>
            </a:r>
            <a:r>
              <a:rPr lang="en-IN" dirty="0"/>
              <a:t> At least 2 GB of free space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b="1" dirty="0"/>
              <a:t>Input Devices:</a:t>
            </a:r>
            <a:r>
              <a:rPr lang="en-IN" dirty="0"/>
              <a:t> Keyboard and mouse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b="1" dirty="0"/>
              <a:t>Display:</a:t>
            </a:r>
            <a:r>
              <a:rPr lang="en-IN" dirty="0"/>
              <a:t> Standard monitor or laptop screen </a:t>
            </a:r>
          </a:p>
          <a:p>
            <a:pPr>
              <a:buFont typeface="Arial" panose="020B0604020202020204" pitchFamily="34" charset="0"/>
              <a:buChar char="•"/>
            </a:pPr>
            <a:endParaRPr lang="en-IN" dirty="0"/>
          </a:p>
          <a:p>
            <a:pPr>
              <a:buFont typeface="Arial" panose="020B0604020202020204" pitchFamily="34" charset="0"/>
              <a:buChar char="•"/>
            </a:pPr>
            <a:endParaRPr lang="en-IN" dirty="0"/>
          </a:p>
          <a:p>
            <a:r>
              <a:rPr lang="en-IN" b="1" dirty="0"/>
              <a:t> Software Requirements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b="1" dirty="0"/>
              <a:t>Operating System:</a:t>
            </a:r>
            <a:r>
              <a:rPr lang="en-IN" dirty="0"/>
              <a:t> Windows, Linux, or macOS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b="1" dirty="0"/>
              <a:t>Programming Language:</a:t>
            </a:r>
            <a:r>
              <a:rPr lang="en-IN" dirty="0"/>
              <a:t> Python 3.x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b="1" dirty="0"/>
              <a:t>Libraries:</a:t>
            </a:r>
            <a:r>
              <a:rPr lang="en-IN" dirty="0"/>
              <a:t> Pandas, NumPy, Scikit-learn, and Matplotlib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b="1" dirty="0"/>
              <a:t>GUI Development:</a:t>
            </a:r>
            <a:r>
              <a:rPr lang="en-IN" dirty="0"/>
              <a:t> React, Vite, </a:t>
            </a:r>
            <a:r>
              <a:rPr lang="en-IN" dirty="0" err="1"/>
              <a:t>FastAPI</a:t>
            </a:r>
            <a:r>
              <a:rPr lang="en-IN" dirty="0"/>
              <a:t>, GitHub Pages, and Render for creating the desktop application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b="1" dirty="0"/>
              <a:t>Dataset:</a:t>
            </a:r>
            <a:r>
              <a:rPr lang="en-IN" dirty="0"/>
              <a:t> Heart disease dataset in CSV format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b="1" dirty="0"/>
              <a:t>Development Environment:</a:t>
            </a:r>
            <a:r>
              <a:rPr lang="en-IN" dirty="0"/>
              <a:t> VS Code or PyCharm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b="1" dirty="0"/>
              <a:t>Model Storage:</a:t>
            </a:r>
            <a:r>
              <a:rPr lang="en-IN" dirty="0"/>
              <a:t> </a:t>
            </a:r>
            <a:r>
              <a:rPr lang="en-IN" dirty="0" err="1"/>
              <a:t>Joblib</a:t>
            </a:r>
            <a:r>
              <a:rPr lang="en-IN" dirty="0"/>
              <a:t> for saving and loading trained models</a:t>
            </a:r>
          </a:p>
        </p:txBody>
      </p:sp>
    </p:spTree>
    <p:extLst>
      <p:ext uri="{BB962C8B-B14F-4D97-AF65-F5344CB8AC3E}">
        <p14:creationId xmlns:p14="http://schemas.microsoft.com/office/powerpoint/2010/main" val="22927509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/>
          <p:cNvSpPr/>
          <p:nvPr/>
        </p:nvSpPr>
        <p:spPr>
          <a:xfrm>
            <a:off x="3736109" y="221673"/>
            <a:ext cx="4719782" cy="51723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660072" y="187903"/>
            <a:ext cx="68718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Conclusion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4FD2D8-54DC-429E-AB22-43D9B96021B8}"/>
              </a:ext>
            </a:extLst>
          </p:cNvPr>
          <p:cNvSpPr txBox="1"/>
          <p:nvPr/>
        </p:nvSpPr>
        <p:spPr>
          <a:xfrm>
            <a:off x="2782277" y="2020674"/>
            <a:ext cx="744806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 project develops a machine learning-based heart disease risk prediction application.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Logistic Regression, Ridge Logistic Regression, and Lasso Logistic Regression are used for model development.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Ridge regularization helps control large coefficients and reduce overfitting.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Lasso regularization supports feature selection by reducing some coefficients toward zero.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Model evaluation helps identify the most suitable approach for the dataset.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 </a:t>
            </a:r>
            <a:r>
              <a:rPr lang="en-US" dirty="0" err="1"/>
              <a:t>Tkinter</a:t>
            </a:r>
            <a:r>
              <a:rPr lang="en-US" dirty="0"/>
              <a:t> interface makes the application simple and user-friendly.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Prediction history and feature analysis improve the application's usefulness.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 system provides an educational and decision-support approach to heart disease risk assessment. 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/>
          <p:cNvSpPr/>
          <p:nvPr/>
        </p:nvSpPr>
        <p:spPr>
          <a:xfrm>
            <a:off x="3736109" y="221673"/>
            <a:ext cx="4719782" cy="51723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2660072" y="154134"/>
            <a:ext cx="68718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 Future Scope</a:t>
            </a: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A14267E4-5362-4E6F-AD03-8840F471F9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90273" y="2136067"/>
            <a:ext cx="8510338" cy="31393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Integrate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advanced machine learning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and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deep learning algorithms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improve prediction accuracy.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larger and diverse healthcare datasets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for better model generalization.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Develop a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web-based and mobile application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for easy access.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Add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real-time health monitoring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using wearable devices and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IoT sensors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Improve the user interface with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personalized risk reports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and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visual dashboards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Enable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secure cloud storage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for patient data and prediction history.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Perform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continuous model updates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using newly collected healthcare data.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Integrate the system with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healthcare professionals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for early risk assessment and awareness.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Include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Explainable AI techniques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identify the factors influencing predictions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CC7FB65-E01F-BA73-B29A-B9E7474FD9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7811" y="1102657"/>
            <a:ext cx="9036424" cy="5082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56671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/>
          <p:cNvSpPr/>
          <p:nvPr/>
        </p:nvSpPr>
        <p:spPr>
          <a:xfrm>
            <a:off x="3736107" y="2619376"/>
            <a:ext cx="4946253" cy="135782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3135434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220</TotalTime>
  <Words>862</Words>
  <Application>Microsoft Office PowerPoint</Application>
  <PresentationFormat>Widescreen</PresentationFormat>
  <Paragraphs>100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Times New Roman</vt:lpstr>
      <vt:lpstr>Office Theme</vt:lpstr>
      <vt:lpstr>       MACHINE LEARNING 25SC2107E  Title of the project: Heart Disease Prediction Using Ridge- and Lasso-Regularized Logistic Regression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Sirisha Devi</dc:creator>
  <cp:lastModifiedBy>Hamsika Peddina</cp:lastModifiedBy>
  <cp:revision>25</cp:revision>
  <dcterms:created xsi:type="dcterms:W3CDTF">2024-08-29T05:25:00Z</dcterms:created>
  <dcterms:modified xsi:type="dcterms:W3CDTF">2026-10-14T06:25:11Z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FB2A1F042FC047C6B4D7E0BF0C20B2E9_13</vt:lpwstr>
  </property>
  <property fmtid="{D5CDD505-2E9C-101B-9397-08002B2CF9AE}" pid="3" name="KSOProductBuildVer">
    <vt:lpwstr>1033-12.2.0.23131</vt:lpwstr>
  </property>
</Properties>
</file>